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935869b374bff" /><Relationship Type="http://schemas.openxmlformats.org/officeDocument/2006/relationships/extended-properties" Target="/docProps/app.xml" Id="Rc078f1207da44179" /><Relationship Type="http://schemas.openxmlformats.org/officeDocument/2006/relationships/officeDocument" Target="/ppt/presentation.xml" Id="Rec2a617739184a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930efdf8084031"/>
  </p:sldMasterIdLst>
  <p:notesMasterIdLst>
    <p:notesMasterId xmlns:r="http://schemas.openxmlformats.org/officeDocument/2006/relationships" r:id="R062c6dc480b14890"/>
  </p:notesMasterIdLst>
  <p:sldIdLst>
    <p:sldId xmlns:r="http://schemas.openxmlformats.org/officeDocument/2006/relationships" id="256" r:id="R778088e152484b4a"/>
    <p:sldId xmlns:r="http://schemas.openxmlformats.org/officeDocument/2006/relationships" id="257" r:id="Rb198454ebc344907"/>
    <p:sldId xmlns:r="http://schemas.openxmlformats.org/officeDocument/2006/relationships" id="258" r:id="R6bbc65ed898240f1"/>
    <p:sldId xmlns:r="http://schemas.openxmlformats.org/officeDocument/2006/relationships" id="259" r:id="Rf4236de858104ad4"/>
    <p:sldId xmlns:r="http://schemas.openxmlformats.org/officeDocument/2006/relationships" id="260" r:id="R3b2cc4a38e5147f7"/>
    <p:sldId xmlns:r="http://schemas.openxmlformats.org/officeDocument/2006/relationships" id="261" r:id="R10b023f0fa5d4fcf"/>
    <p:sldId xmlns:r="http://schemas.openxmlformats.org/officeDocument/2006/relationships" id="262" r:id="R083f4ca23d7142c8"/>
    <p:sldId xmlns:r="http://schemas.openxmlformats.org/officeDocument/2006/relationships" id="263" r:id="Rb1f02310cf934f90"/>
    <p:sldId xmlns:r="http://schemas.openxmlformats.org/officeDocument/2006/relationships" id="264" r:id="R9eebc1d86c834350"/>
    <p:sldId xmlns:r="http://schemas.openxmlformats.org/officeDocument/2006/relationships" id="265" r:id="Re2aa874ead6a4577"/>
    <p:sldId xmlns:r="http://schemas.openxmlformats.org/officeDocument/2006/relationships" id="266" r:id="R6748ade7ba674a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6635ad24844255" /><Relationship Type="http://schemas.openxmlformats.org/officeDocument/2006/relationships/slideMaster" Target="/ppt/slideMasters/slideMaster1.xml" Id="R3f930efdf8084031" /><Relationship Type="http://schemas.openxmlformats.org/officeDocument/2006/relationships/notesMaster" Target="/ppt/notesMasters/notesMaster1.xml" Id="R062c6dc480b14890" /><Relationship Type="http://schemas.openxmlformats.org/officeDocument/2006/relationships/presProps" Target="/ppt/presProps.xml" Id="R79b7acc9b2704c6a" /><Relationship Type="http://schemas.openxmlformats.org/officeDocument/2006/relationships/tableStyles" Target="/ppt/tableStyles.xml" Id="R4d611fc7f8144f8d" /><Relationship Type="http://schemas.openxmlformats.org/officeDocument/2006/relationships/slide" Target="/ppt/slides/slide1.xml" Id="R778088e152484b4a" /><Relationship Type="http://schemas.openxmlformats.org/officeDocument/2006/relationships/slide" Target="/ppt/slides/slide2.xml" Id="Rb198454ebc344907" /><Relationship Type="http://schemas.openxmlformats.org/officeDocument/2006/relationships/slide" Target="/ppt/slides/slide3.xml" Id="R6bbc65ed898240f1" /><Relationship Type="http://schemas.openxmlformats.org/officeDocument/2006/relationships/slide" Target="/ppt/slides/slide4.xml" Id="Rf4236de858104ad4" /><Relationship Type="http://schemas.openxmlformats.org/officeDocument/2006/relationships/slide" Target="/ppt/slides/slide5.xml" Id="R3b2cc4a38e5147f7" /><Relationship Type="http://schemas.openxmlformats.org/officeDocument/2006/relationships/slide" Target="/ppt/slides/slide6.xml" Id="R10b023f0fa5d4fcf" /><Relationship Type="http://schemas.openxmlformats.org/officeDocument/2006/relationships/slide" Target="/ppt/slides/slide7.xml" Id="R083f4ca23d7142c8" /><Relationship Type="http://schemas.openxmlformats.org/officeDocument/2006/relationships/slide" Target="/ppt/slides/slide8.xml" Id="Rb1f02310cf934f90" /><Relationship Type="http://schemas.openxmlformats.org/officeDocument/2006/relationships/slide" Target="/ppt/slides/slide9.xml" Id="R9eebc1d86c834350" /><Relationship Type="http://schemas.openxmlformats.org/officeDocument/2006/relationships/slide" Target="/ppt/slides/slide10.xml" Id="Re2aa874ead6a4577" /><Relationship Type="http://schemas.openxmlformats.org/officeDocument/2006/relationships/slide" Target="/ppt/slides/slide11.xml" Id="R6748ade7ba674a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376e201c5f49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f056e37b4348bb" /><Relationship Type="http://schemas.openxmlformats.org/officeDocument/2006/relationships/notesMaster" Target="/ppt/notesMasters/notesMaster1.xml" Id="R67ef2b7aa8fb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89a073ccb94cce" /><Relationship Type="http://schemas.openxmlformats.org/officeDocument/2006/relationships/notesMaster" Target="/ppt/notesMasters/notesMaster1.xml" Id="R8ea011f49fef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218fefd5594ade" /><Relationship Type="http://schemas.openxmlformats.org/officeDocument/2006/relationships/notesMaster" Target="/ppt/notesMasters/notesMaster1.xml" Id="R2073a28997264f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1e4256b1e94848" /><Relationship Type="http://schemas.openxmlformats.org/officeDocument/2006/relationships/notesMaster" Target="/ppt/notesMasters/notesMaster1.xml" Id="Rd1f3561e025641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650b36cefb4611" /><Relationship Type="http://schemas.openxmlformats.org/officeDocument/2006/relationships/notesMaster" Target="/ppt/notesMasters/notesMaster1.xml" Id="Rfa1c0d882ae041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5c774322a24d24" /><Relationship Type="http://schemas.openxmlformats.org/officeDocument/2006/relationships/notesMaster" Target="/ppt/notesMasters/notesMaster1.xml" Id="R657a68ea5ad549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7c437ca3d4a33" /><Relationship Type="http://schemas.openxmlformats.org/officeDocument/2006/relationships/notesMaster" Target="/ppt/notesMasters/notesMaster1.xml" Id="Rc8ea2a2a015a43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5f5b63d3104d51" /><Relationship Type="http://schemas.openxmlformats.org/officeDocument/2006/relationships/notesMaster" Target="/ppt/notesMasters/notesMaster1.xml" Id="Rb8f07222f97948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bde33478ca4fa8" /><Relationship Type="http://schemas.openxmlformats.org/officeDocument/2006/relationships/notesMaster" Target="/ppt/notesMasters/notesMaster1.xml" Id="Rb3ef917f70914f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446b75bb9f4c0b" /><Relationship Type="http://schemas.openxmlformats.org/officeDocument/2006/relationships/notesMaster" Target="/ppt/notesMasters/notesMaster1.xml" Id="R7aad80b5c67a4b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fb6f024cd04c52" /><Relationship Type="http://schemas.openxmlformats.org/officeDocument/2006/relationships/notesMaster" Target="/ppt/notesMasters/notesMaster1.xml" Id="R4b08e5e61b87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c94e9db9848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799f56f1a544a4" /><Relationship Type="http://schemas.openxmlformats.org/officeDocument/2006/relationships/slideLayout" Target="/ppt/slideLayouts/slideLayout1.xml" Id="Rc13a916d045a4b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a916d045a4b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f0e93890e42bf" /><Relationship Type="http://schemas.openxmlformats.org/officeDocument/2006/relationships/notesSlide" Target="/ppt/notesSlides/notesSlide1.xml" Id="R947191dc4d74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9535c95454a86" /><Relationship Type="http://schemas.openxmlformats.org/officeDocument/2006/relationships/notesSlide" Target="/ppt/notesSlides/notesSlide2.xml" Id="R41f453a4727e41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e579b562e4857" /><Relationship Type="http://schemas.openxmlformats.org/officeDocument/2006/relationships/notesSlide" Target="/ppt/notesSlides/notesSlide3.xml" Id="R6bb9f326b6c74f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c63c7c7de40d0" /><Relationship Type="http://schemas.openxmlformats.org/officeDocument/2006/relationships/notesSlide" Target="/ppt/notesSlides/notesSlide4.xml" Id="Rf1045fb7452a44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bcd334d4d46fd" /><Relationship Type="http://schemas.openxmlformats.org/officeDocument/2006/relationships/notesSlide" Target="/ppt/notesSlides/notesSlide5.xml" Id="R63dd99e041c74d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3fcde40584656" /><Relationship Type="http://schemas.openxmlformats.org/officeDocument/2006/relationships/notesSlide" Target="/ppt/notesSlides/notesSlide6.xml" Id="Rc470ab40e4a84f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21e0e899d4b74" /><Relationship Type="http://schemas.openxmlformats.org/officeDocument/2006/relationships/notesSlide" Target="/ppt/notesSlides/notesSlide7.xml" Id="Rb4c82dcc45804e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34bf63c28443c" /><Relationship Type="http://schemas.openxmlformats.org/officeDocument/2006/relationships/notesSlide" Target="/ppt/notesSlides/notesSlide8.xml" Id="Re0d98b25757146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23c81ea5e4c2f" /><Relationship Type="http://schemas.openxmlformats.org/officeDocument/2006/relationships/notesSlide" Target="/ppt/notesSlides/notesSlide9.xml" Id="R6051f87634d74b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aa5e94e17431a" /><Relationship Type="http://schemas.openxmlformats.org/officeDocument/2006/relationships/notesSlide" Target="/ppt/notesSlides/notesSlide10.xml" Id="Rc1d82196f00349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96ab9c76c4859" /><Relationship Type="http://schemas.openxmlformats.org/officeDocument/2006/relationships/notesSlide" Target="/ppt/notesSlides/notesSlide11.xml" Id="R21991873266648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1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BB661-90A9-4FE6-846B-C7EA9AD9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D3FC"/>
                </a:solidFill>
              </a:defRPr>
            </a:pPr>
            <a:r>
              <a:rPr sz="1050" b="1">
                <a:solidFill>
                  <a:srgbClr val="7DD3FC"/>
                </a:solidFill>
              </a:rPr>
              <a:t>EVIDENCE-GROUNDED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2A8CA-3802-43EF-8B40-824D3492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AI Governance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27BBB-0952-42AA-8ADA-FEF8DF7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9E6EE"/>
                </a:solidFill>
              </a:defRPr>
            </a:pPr>
            <a:r>
              <a:rPr sz="1725" b="0">
                <a:solidFill>
                  <a:srgbClr val="D9E6EE"/>
                </a:solidFill>
              </a:rPr>
              <a:t>A citation-enforced decision-support system for AI governance and agentic security.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BACF7-F3E5-4A50-9571-2F2AD8D3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81100"/>
            <a:ext cx="3143250" cy="32194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63657-518A-4E6D-ADB6-16E5252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D3FC"/>
                </a:solidFill>
              </a:defRPr>
            </a:pPr>
            <a:r>
              <a:rPr sz="1050" b="1">
                <a:solidFill>
                  <a:srgbClr val="7DD3FC"/>
                </a:solidFill>
              </a:rPr>
              <a:t>RELEASE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B1BCF-DB4D-438B-9ECA-6052880B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No evidence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No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F2D21-BA91-4880-858A-05B77112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9E6EE"/>
                </a:solidFill>
              </a:defRPr>
            </a:pPr>
            <a:r>
              <a:rPr sz="1275" b="0">
                <a:solidFill>
                  <a:srgbClr val="D9E6EE"/>
                </a:solidFill>
              </a:rPr>
              <a:t>Every claim must map to a precise, retrieved source excerpt.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63926-3AA9-4B58-BDD2-8B97E747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76142-3794-4064-975C-5E8068DF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59522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E0433-2BF6-433C-AB91-D6E8EB9F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A0534-9F5B-4466-A361-74EEA1FD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Approve a governed RAG foundation, not a fluent search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B5891-BC16-4367-A5D6-29A00390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C9940-D1ED-4691-970D-E9C1AA2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941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Target: AI governance and agentic-security evidence from approved NIST and OWASP releases.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7C93B-A61A-4312-B613-70B1D6EE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01DE1-AD48-4D03-AC38-4362A26B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941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Control: unsupported claims are rejected before users see an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5C772-C911-4AF0-AF1E-CC7AA56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818D8-45EF-465C-98DB-5594662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941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Outcome: measurable quality, reproducible releases, and audit-ready source provenance.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FDCD3-D27A-4690-9D4D-94DB3EC5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8DFC3-4769-41F4-B0B8-32F2344B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42442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ADD8E-3BBB-42CF-92BD-DF976D93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98A21-9518-46FB-A88B-077F710B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A controlled workflow separates recall, precision, and grounding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0D3E2-3846-4B14-B805-4876CA6F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04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45325-6A66-43DA-8939-F11D404F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Normalize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C73D0-4522-4ABD-A3B8-0E9B5C3E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985"/>
                </a:solidFill>
              </a:defRPr>
            </a:pPr>
            <a:r>
              <a:rPr sz="1650" b="1">
                <a:solidFill>
                  <a:srgbClr val="075985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CA731-A7E8-4552-9624-0852E6C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09800"/>
            <a:ext cx="1504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D88ED-F259-454F-A5B2-E6500880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28875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Hybrid retrieve</a:t>
            </a:r>
          </a:p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30 candidates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101E8-A012-4F76-8956-D43DCA4E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985"/>
                </a:solidFill>
              </a:defRPr>
            </a:pPr>
            <a:r>
              <a:rPr sz="1650" b="1">
                <a:solidFill>
                  <a:srgbClr val="07598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E1CE9-BC39-4B14-B46C-3C50D501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504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26528-1487-484D-A934-B0FFED7D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Cross-encoder</a:t>
            </a:r>
          </a:p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rerank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312CA-038A-4B66-B569-C96BEB0A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985"/>
                </a:solidFill>
              </a:defRPr>
            </a:pPr>
            <a:r>
              <a:rPr sz="1650" b="1">
                <a:solidFill>
                  <a:srgbClr val="07598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626B8-A2CA-4E94-BF5C-CC88A58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1504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86D38-E964-4FDA-9D47-1FC3ED9B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Evidence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75960-0A7A-4BB7-95AB-3080E93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985"/>
                </a:solidFill>
              </a:defRPr>
            </a:pPr>
            <a:r>
              <a:rPr sz="1650" b="1">
                <a:solidFill>
                  <a:srgbClr val="07598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302E4-9004-4137-994F-1971C611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504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25D4F-F0BF-43C2-8DF9-D735340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28875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Generate structured</a:t>
            </a:r>
          </a:p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01B40-B243-4152-80E8-C13600D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985"/>
                </a:solidFill>
              </a:defRPr>
            </a:pPr>
            <a:r>
              <a:rPr sz="1650" b="1">
                <a:solidFill>
                  <a:srgbClr val="075985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008C9-A98A-405F-A9C8-4DFE040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504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E038B-BCAB-472E-9B88-0354EE73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28875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Validate citations</a:t>
            </a:r>
          </a:p>
          <a:p xmlns:a="http://schemas.openxmlformats.org/drawingml/2006/main">
            <a:pPr>
              <a:defRPr sz="1200" b="1">
                <a:solidFill>
                  <a:srgbClr val="13212E"/>
                </a:solidFill>
              </a:defRPr>
            </a:pPr>
            <a:r>
              <a:rPr sz="1200" b="1">
                <a:solidFill>
                  <a:srgbClr val="13212E"/>
                </a:solidFill>
              </a:rPr>
              <a:t>or abstain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9FF86-E98A-44C6-942B-FF9FC51A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06D"/>
                </a:solidFill>
              </a:defRPr>
            </a:pPr>
            <a:r>
              <a:rPr sz="1500" b="0">
                <a:solidFill>
                  <a:srgbClr val="51606D"/>
                </a:solidFill>
              </a:rPr>
              <a:t>LangGraph makes every branch observable, replayable, and policy-controlled.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1A97A-4FEC-4377-BBAD-08C89A9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0BC0F-2AAF-4E3F-8124-639E936F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34159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43E88-AC37-4828-AFB0-C8BF50D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3D59D-B2E4-4DB3-8D74-B0BEE188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Weaviate delivers native hybrid retrieval with less custom search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FB91F-C140-4E52-9260-4094C7E4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00B4C-A50A-49C4-A09F-9FEAE1B4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5985"/>
                </a:solidFill>
              </a:defRPr>
            </a:pPr>
            <a:r>
              <a:rPr sz="1875" b="1">
                <a:solidFill>
                  <a:srgbClr val="075985"/>
                </a:solidFill>
              </a:rPr>
              <a:t>Dense semantic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AFF19-EDE1-4B95-A3CD-40E44F2D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bge-large-en-v1.5 captures meaning and paraphrase.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2A60C-66AB-4786-AAA5-C5E7464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5985"/>
                </a:solidFill>
              </a:defRPr>
            </a:pPr>
            <a:r>
              <a:rPr sz="1875" b="1">
                <a:solidFill>
                  <a:srgbClr val="075985"/>
                </a:solidFill>
              </a:rPr>
              <a:t>BM25 keyword 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60CC3-826D-48B0-9E11-CADEE2A0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Preserves exact frameworks, functions, and security terminology.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95893-1B8C-4D30-BD2C-47ADA426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34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390D8-83F6-41DB-9E45-4D518766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12E"/>
                </a:solidFill>
              </a:defRPr>
            </a:pPr>
            <a:r>
              <a:rPr sz="1875" b="1">
                <a:solidFill>
                  <a:srgbClr val="13212E"/>
                </a:solidFill>
              </a:rPr>
              <a:t>Why not ChromaDB for production?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E4500-05F4-4E9F-9BD8-746D6A67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DACE5-9556-4730-922C-A86A81CD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Weaviate fuses vector + BM25 natively.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E6F38-F95A-414A-9709-684E204E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6587A-C440-44EE-9C83-02DBCFF9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Scores and filters stay in one query surface.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6BEAC-0030-4D7C-8092-92DA22BC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AE07D-A201-4C2D-AB47-C85235A8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Reranking integrates without a separate BM25 service.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B701F-BADD-4C00-88BA-6AD09AF4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1E5DE-5137-4E60-B4B2-FE0B9E1D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43937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72A40-648D-4D12-A24A-7B1D7C04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B2F4A-B56D-4141-A3F6-11C7184B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Citation enforcement is a release gate, not a prompt suggestion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9B0EF-073E-4334-AEEB-664F409E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76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AB2C7-9546-478D-8F64-8165CC10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985"/>
                </a:solidFill>
              </a:defRPr>
            </a:pPr>
            <a:r>
              <a:rPr sz="1350" b="1">
                <a:solidFill>
                  <a:srgbClr val="07598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29D83-46EA-4A24-8452-5201589D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2E"/>
                </a:solidFill>
              </a:defRPr>
            </a:pPr>
            <a:r>
              <a:rPr sz="1500" b="1">
                <a:solidFill>
                  <a:srgbClr val="13212E"/>
                </a:solidFill>
              </a:rPr>
              <a:t>Structured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DE440-DEAF-47D9-AAEE-21967569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06D"/>
                </a:solidFill>
              </a:defRPr>
            </a:pPr>
            <a:r>
              <a:rPr sz="1275" b="0">
                <a:solidFill>
                  <a:srgbClr val="51606D"/>
                </a:solidFill>
              </a:rPr>
              <a:t>Atomic claims + chunk IDs + exact quote spans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A3887-42A9-449F-81F9-DD958C73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6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EC732-B4EE-43B9-9AB7-B79AC391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985"/>
                </a:solidFill>
              </a:defRPr>
            </a:pPr>
            <a:r>
              <a:rPr sz="1350" b="1">
                <a:solidFill>
                  <a:srgbClr val="0759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2E3F2-8142-4FAD-9824-2A964B3C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2E"/>
                </a:solidFill>
              </a:defRPr>
            </a:pPr>
            <a:r>
              <a:rPr sz="1500" b="1">
                <a:solidFill>
                  <a:srgbClr val="13212E"/>
                </a:solidFill>
              </a:rPr>
              <a:t>Deterministic validator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8D392-4D1D-4D1B-A971-E3E4728B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06D"/>
                </a:solidFill>
              </a:defRPr>
            </a:pPr>
            <a:r>
              <a:rPr sz="1275" b="0">
                <a:solidFill>
                  <a:srgbClr val="51606D"/>
                </a:solidFill>
              </a:rPr>
              <a:t>Rejects unknown chunks, missing spans, and uncited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9B6FD-DF89-48A6-9E5B-444C02B7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76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F2976-AA60-4A39-9854-328E24C8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985"/>
                </a:solidFill>
              </a:defRPr>
            </a:pPr>
            <a:r>
              <a:rPr sz="1350" b="1">
                <a:solidFill>
                  <a:srgbClr val="075985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98624-AA53-42DB-A7FB-BEF0C078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76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2E"/>
                </a:solidFill>
              </a:defRPr>
            </a:pPr>
            <a:r>
              <a:rPr sz="1500" b="1">
                <a:solidFill>
                  <a:srgbClr val="13212E"/>
                </a:solidFill>
              </a:rPr>
              <a:t>Independent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D25DB-3431-4067-BC1E-269C5137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66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06D"/>
                </a:solidFill>
              </a:defRPr>
            </a:pPr>
            <a:r>
              <a:rPr sz="1275" b="0">
                <a:solidFill>
                  <a:srgbClr val="51606D"/>
                </a:solidFill>
              </a:rPr>
              <a:t>Checks entailment and contradictions before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D5853-64EB-4A5D-B828-16AB95C1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76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A3DB6-684A-4F77-93BE-F639C9E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985"/>
                </a:solidFill>
              </a:defRPr>
            </a:pPr>
            <a:r>
              <a:rPr sz="1350" b="1">
                <a:solidFill>
                  <a:srgbClr val="075985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37727-A5C1-42DC-94A9-72465DC4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2E"/>
                </a:solidFill>
              </a:defRPr>
            </a:pPr>
            <a:r>
              <a:rPr sz="1500" b="1">
                <a:solidFill>
                  <a:srgbClr val="13212E"/>
                </a:solidFill>
              </a:rPr>
              <a:t>Safe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E9889-DAB6-48C5-91AD-547DF46C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06D"/>
                </a:solidFill>
              </a:defRPr>
            </a:pPr>
            <a:r>
              <a:rPr sz="1275" b="0">
                <a:solidFill>
                  <a:srgbClr val="51606D"/>
                </a:solidFill>
              </a:rPr>
              <a:t>One revise attempt; otherwise a clear abstention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FF810-92E5-4A6C-B1EA-79F995D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ABC55-1ED6-4FF8-B01A-D89686C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15386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88A9D-9614-4E46-8727-84FB2F16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D0C93-FA55-4AFC-A323-5F3BABDE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The 200-case benchmark converts RAG quality into a build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7FB2C-CFF6-4B5B-B94C-0AD92A4A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66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88A2C-FD50-4BD6-ACA5-75658C3B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1606D"/>
                </a:solidFill>
              </a:defRPr>
            </a:pPr>
            <a:r>
              <a:rPr sz="1275" b="1">
                <a:solidFill>
                  <a:srgbClr val="51606D"/>
                </a:solidFill>
              </a:rPr>
              <a:t>Faithfulness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439AE-6177-41AC-8E64-A49FBA62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≥ 0.95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D63C3-CF42-4E2B-87A5-89CA8C07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2266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685DA-4E20-47DA-9A27-1FDE0BE0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1606D"/>
                </a:solidFill>
              </a:defRPr>
            </a:pPr>
            <a:r>
              <a:rPr sz="1275" b="1">
                <a:solidFill>
                  <a:srgbClr val="51606D"/>
                </a:solidFill>
              </a:rPr>
              <a:t>Citation validity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0F8F4-D91A-4C73-813B-F5AFC277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717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17B13-1FD5-46B3-8C1B-02502499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2266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7808A-470A-44F1-A688-37F2DFB9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1606D"/>
                </a:solidFill>
              </a:defRPr>
            </a:pPr>
            <a:r>
              <a:rPr sz="1275" b="1">
                <a:solidFill>
                  <a:srgbClr val="51606D"/>
                </a:solidFill>
              </a:rPr>
              <a:t>Answer correctness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4F217-8A1D-490A-8FC7-42622EFF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717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≥ 0.85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C9577-6A9C-4BFC-8FAE-7220D8C3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2266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1AEED-8B3F-49D4-A0D2-B5208E53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1606D"/>
                </a:solidFill>
              </a:defRPr>
            </a:pPr>
            <a:r>
              <a:rPr sz="1275" b="1">
                <a:solidFill>
                  <a:srgbClr val="51606D"/>
                </a:solidFill>
              </a:rPr>
              <a:t>Abstention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241DF-C009-4199-8D6B-C125F08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717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≥ 0.90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78A13-31C9-464D-927E-1C1C48B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12E"/>
                </a:solidFill>
              </a:defRPr>
            </a:pPr>
            <a:r>
              <a:rPr sz="1500" b="0">
                <a:solidFill>
                  <a:srgbClr val="13212E"/>
                </a:solidFill>
              </a:rPr>
              <a:t>110 direct facts  •  45 multi-source questions  •  25 retrieval-stress cases  •  20 unanswerable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FE08B-D3FB-4A9B-93B7-C090A6B8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A build also fails on a &gt;2-point regression from the approved 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9E607-88B9-4BCF-84E4-ED2E416D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5D694-FDC6-4003-B883-F9B6FB0F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5887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92A0E-E668-4055-9127-ADE9A712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2A5F3-D1FC-4FEF-A065-160D29E1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Corpus and prompt changes are versioned releases with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7374C-8C38-4C23-B8FA-C49221F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B8843-0167-42DF-A3A9-A45D0E6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941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Source manifest records URL, license, version, checksum, page/section, and corpus release 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B7939-4F70-4784-8B10-7DE3F7C8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74396-9F54-45E6-A9CF-30604456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941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Prompts and retrieval settings are reviewed YAML with semantic versions and change logs.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3AF0A-F722-4C68-AD5B-29961FDE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16812-CDBA-49AF-892A-CEE895B5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941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New source material is staged, evaluated, approved, and promoted - never silently overwritten.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C8A2A-E3DD-4CE1-947E-446BC8A6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072AE-B21D-4F19-8814-B070D889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81500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3048C-0414-4896-9248-8D0A308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98387-E354-470F-A194-EF028490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A Docker Compose-first delivery path makes the system demonstrable and portable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FB720-D0CC-44B4-B5AB-B4371AD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914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10EB4-12C9-432C-B040-E0E9B26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985"/>
                </a:solidFill>
              </a:defRPr>
            </a:pPr>
            <a:r>
              <a:rPr sz="1425" b="1">
                <a:solidFill>
                  <a:srgbClr val="075985"/>
                </a:solidFill>
              </a:rPr>
              <a:t>React / Next.js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F6FF1-4721-478D-9E83-91B531A8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12E"/>
                </a:solidFill>
              </a:defRPr>
            </a:pPr>
            <a:r>
              <a:rPr sz="1275" b="0">
                <a:solidFill>
                  <a:srgbClr val="13212E"/>
                </a:solidFill>
              </a:rPr>
              <a:t>Answer, citations, excerpts, diagnostics, abstention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6C61E-2EB3-483C-A459-B16ADEDB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914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ADFF6-7A4B-4395-81CC-33BDD5BE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985"/>
                </a:solidFill>
              </a:defRPr>
            </a:pPr>
            <a:r>
              <a:rPr sz="1425" b="1">
                <a:solidFill>
                  <a:srgbClr val="075985"/>
                </a:solidFill>
              </a:rPr>
              <a:t>FastAPI + LangGraph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24184-5044-41FC-9746-50CD602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12E"/>
                </a:solidFill>
              </a:defRPr>
            </a:pPr>
            <a:r>
              <a:rPr sz="1275" b="0">
                <a:solidFill>
                  <a:srgbClr val="13212E"/>
                </a:solidFill>
              </a:rPr>
              <a:t>Query, ingestion, evaluation, health, trace 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F4D85-804C-43E3-A6FC-B6EAEF05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914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769C4-F68E-4024-ADB2-1F50B0B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43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985"/>
                </a:solidFill>
              </a:defRPr>
            </a:pPr>
            <a:r>
              <a:rPr sz="1425" b="1">
                <a:solidFill>
                  <a:srgbClr val="075985"/>
                </a:solidFill>
              </a:rPr>
              <a:t>Weaviate + model adapters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751C7-FA11-4DA3-98C9-89DAC43D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12E"/>
                </a:solidFill>
              </a:defRPr>
            </a:pPr>
            <a:r>
              <a:rPr sz="1275" b="0">
                <a:solidFill>
                  <a:srgbClr val="13212E"/>
                </a:solidFill>
              </a:rPr>
              <a:t>Hybrid retrieval, rerank, OmniRoute/direct-provider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69FA9-9A71-44A5-A5E8-63257E8F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914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EFC3E-1E81-425B-884E-441FC4BC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19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985"/>
                </a:solidFill>
              </a:defRPr>
            </a:pPr>
            <a:r>
              <a:rPr sz="1425" b="1">
                <a:solidFill>
                  <a:srgbClr val="075985"/>
                </a:solidFill>
              </a:rPr>
              <a:t>CI quality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DDE97-E38A-47F1-AEE3-7E7D3F4A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12E"/>
                </a:solidFill>
              </a:defRPr>
            </a:pPr>
            <a:r>
              <a:rPr sz="1275" b="0">
                <a:solidFill>
                  <a:srgbClr val="13212E"/>
                </a:solidFill>
              </a:rPr>
              <a:t>Tests, benchmark, diagnostics, scheduled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15A8E-1F24-4DF4-9EC8-427ECCE5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24865-6421-467F-B7E2-CE7E4EC1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7074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DF5BA-E59F-42B5-9DCF-E23A2A03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9B97F-FA26-4F3A-9EAD-300BADB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Delivery is governed through a Kanban SDLC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F8A0F-54A3-43DF-904B-040706C5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562100" cy="300037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DB406-206F-4481-92B6-CB4DD1D3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12E"/>
                </a:solidFill>
              </a:defRPr>
            </a:pPr>
            <a:r>
              <a:rPr sz="1275" b="1">
                <a:solidFill>
                  <a:srgbClr val="13212E"/>
                </a:solidFill>
              </a:rPr>
              <a:t>Backlog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D7D37-7F37-4BC7-8C92-FDD10C5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Foundation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Ingestion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Retrieval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Grounding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API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UI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15000-723D-4BB5-BC00-566CB880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1562100" cy="300037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09AEC-8C24-4096-96C5-83B1B6B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00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12E"/>
                </a:solidFill>
              </a:defRPr>
            </a:pPr>
            <a:r>
              <a:rPr sz="1275" b="1">
                <a:solidFill>
                  <a:srgbClr val="13212E"/>
                </a:solidFill>
              </a:rPr>
              <a:t>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9FF0B-7FB4-4B58-A3E3-90FA573B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765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Foundation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Ingestion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Retrieval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Grounding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API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UI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EF071-E1C5-4F42-9502-26ABE7A0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1562100" cy="300037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073E1-ED18-4666-A81D-07B3A653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12E"/>
                </a:solidFill>
              </a:defRPr>
            </a:pPr>
            <a:r>
              <a:rPr sz="1275" b="1">
                <a:solidFill>
                  <a:srgbClr val="13212E"/>
                </a:solidFill>
              </a:rPr>
              <a:t>In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B4A0D-9514-4B47-89FA-E5BE4FE4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Build in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small slices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2105B-3D10-43EB-8FE4-86B09E87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1562100" cy="300037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E65AE-CC4A-4503-8656-B37B0EA6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12E"/>
                </a:solidFill>
              </a:defRPr>
            </a:pPr>
            <a:r>
              <a:rPr sz="1275" b="1">
                <a:solidFill>
                  <a:srgbClr val="13212E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BB694-9E52-4047-A5DF-6D81CF65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Evidence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875A5-3167-402B-8258-C1E173D7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1562100" cy="300037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DA881-DED9-4516-9C7D-F6C9CE85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12E"/>
                </a:solidFill>
              </a:defRPr>
            </a:pPr>
            <a:r>
              <a:rPr sz="1275" b="1">
                <a:solidFill>
                  <a:srgbClr val="13212E"/>
                </a:solidFill>
              </a:rPr>
              <a:t>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0AA17-5BB4-4C82-8D16-EBA8EA9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Evidence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2DD97-4790-403B-9780-B34D05B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90700"/>
            <a:ext cx="1562100" cy="300037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6B02E-9402-4D4F-9947-713F4AD7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12E"/>
                </a:solidFill>
              </a:defRPr>
            </a:pPr>
            <a:r>
              <a:rPr sz="1275" b="1">
                <a:solidFill>
                  <a:srgbClr val="13212E"/>
                </a:solidFill>
              </a:rPr>
              <a:t>Done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56E15-EE71-48F8-A9F9-8EBFD75D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Evidence</a:t>
            </a:r>
          </a:p>
          <a:p xmlns:a="http://schemas.openxmlformats.org/drawingml/2006/main">
            <a:pPr>
              <a:defRPr sz="1200" b="0">
                <a:solidFill>
                  <a:srgbClr val="51606D"/>
                </a:solidFill>
              </a:defRPr>
            </a:pPr>
            <a:r>
              <a:rPr sz="1200" b="0">
                <a:solidFill>
                  <a:srgbClr val="51606D"/>
                </a:solidFill>
              </a:rPr>
              <a:t>required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E03AB-A58D-4BE7-8E38-EA17AE60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D"/>
                </a:solidFill>
              </a:defRPr>
            </a:pPr>
            <a:r>
              <a:rPr sz="1350" b="0">
                <a:solidFill>
                  <a:srgbClr val="51606D"/>
                </a:solidFill>
              </a:rPr>
              <a:t>Airtable import file defines 15 implementation tickets with acceptance criteria and dependencies.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B5BF6-7638-4CBF-BBB5-CA47597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77647-35C6-4647-9826-36C56ABE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95189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2AD30-CD23-406D-925B-3C88320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RISK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9C359-1C07-43BB-9304-3FA6F4C9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Known risks have explicit ownership and failure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10282-A758-48E8-892C-2D52CC1A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0D681-F89D-41F4-B0B3-C15FA4C5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Corpus drift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3DB09-479E-4671-869A-2326CF35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47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Versioned approval and release isolation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3CA3D-2565-4783-BB81-9AFB16E1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11C5F-C1CA-4983-8694-D0D3F11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Provider outage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B4D30-CA64-4386-B4A9-B4F5B8AC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OmniRoute health check plus direct-provider fallback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86B85-DDD6-4CEB-AD82-9EC383E3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706CA-23AC-4936-96C2-9A1B383F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Hallucinated citations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4B162-7D49-4ECD-80B3-63B0FED7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Exact quote-span validation and abstention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0BDBD-E17B-420F-8873-26DE36F7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6600D-EE1C-4A85-8DA9-FBF1BD5B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Metric gaming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DAC6A-8F2A-4501-8116-CD60841E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40 CI-only cases and regression diagnostics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D4393-8669-4CD8-BD3F-77F1D5C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6E894-F111-417D-953C-4C687A9F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90392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09425-7BB3-4015-8595-C636FEA1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3E133-2EFD-465E-BF98-C78AF2A3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2E"/>
                </a:solidFill>
              </a:defRPr>
            </a:pPr>
            <a:r>
              <a:rPr sz="2700" b="1">
                <a:solidFill>
                  <a:srgbClr val="13212E"/>
                </a:solidFill>
              </a:rPr>
              <a:t>Approve the foundation and use the quality gate to earn production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F8880-5D84-4136-B585-635A720D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12E"/>
                </a:solidFill>
              </a:defRPr>
            </a:pPr>
            <a:r>
              <a:rPr sz="1875" b="0">
                <a:solidFill>
                  <a:srgbClr val="13212E"/>
                </a:solidFill>
              </a:rPr>
              <a:t>The project is ready to move from architecture to an evidence-backed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A9F7B-82AD-400F-A7E8-A2BEC79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0BF34-89B7-4C88-B68B-AC19B461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912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Stand up the Compose stack and curated corpus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3A9EB-4983-4936-A100-ABE38DB2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95F75-ECFC-432C-B036-82F83932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912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Run the full benchmark before accepting retrieval or prompt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7E894-C3D1-42B1-A947-BEA0BF5B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50FDD-3CBF-451B-838F-6A5A2FB2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912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12E"/>
                </a:solidFill>
              </a:defRPr>
            </a:pPr>
            <a:r>
              <a:rPr sz="1350" b="0">
                <a:solidFill>
                  <a:srgbClr val="13212E"/>
                </a:solidFill>
              </a:rPr>
              <a:t>Use the Kanban board to deliver auditable increments.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DBB68-1D0F-408E-9FF8-B0EDBA2B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5985"/>
                </a:solidFill>
              </a:defRPr>
            </a:pPr>
            <a:r>
              <a:rPr sz="1725" b="1">
                <a:solidFill>
                  <a:srgbClr val="075985"/>
                </a:solidFill>
              </a:rPr>
              <a:t>Success is not a persuasive answer - it is a supported answer or an honest abstention.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AA15D-34F8-499F-911F-70B6E35C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1606D"/>
                </a:solidFill>
              </a:defRPr>
            </a:pPr>
            <a:r>
              <a:rPr sz="750" b="0">
                <a:solidFill>
                  <a:srgbClr val="51606D"/>
                </a:solidFill>
              </a:rPr>
              <a:t>Evidence-Grounded AI Governance Copilot-RAG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E50F5-93DC-4B74-B38B-F3E8FD27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1606D"/>
                </a:solidFill>
              </a:defRPr>
            </a:pPr>
            <a:r>
              <a:rPr sz="750" b="1">
                <a:solidFill>
                  <a:srgbClr val="51606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2278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2026-07-23T08:05:13.6280000Z</dcterms:created>
  <dcterms:modified xsi:type="dcterms:W3CDTF">2026-07-23T08:05:13.6280000Z</dcterms:modified>
</coreProperties>
</file>